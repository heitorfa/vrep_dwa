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2C39A"/>
                </a:solidFill>
                <a:latin typeface="Calibri"/>
              </a:rPr>
              <a:t>NAVEGAÇÃO AUTÔNOMA DE ROBÔS MÓVEIS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2011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Sistema Híbrido com A* Melhorado, DWA 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Mapa de Grade de Ocupação no CoppeliaSim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CADCFC"/>
                </a:solidFill>
                <a:latin typeface="Calibri"/>
              </a:rPr>
              <a:t>Heitor Freire Alves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B2CC"/>
                </a:solidFill>
                <a:latin typeface="Calibri"/>
              </a:rPr>
              <a:t>Disciplina de Robótica — UNIVASF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MOTIVAÇÃO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O problema da navegação autônoma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881360" cy="123444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30552"/>
            <a:ext cx="9418320" cy="960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065A82"/>
                </a:solidFill>
                <a:latin typeface="Calibri"/>
              </a:rPr>
              <a:t>Global puro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672"/>
                </a:solidFill>
                <a:latin typeface="Calibri"/>
              </a:rPr>
              <a:t>Rotas ótimas, mas falha diante de obstáculos dinâmicos e imprevistos.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10881360" cy="123444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547872"/>
            <a:ext cx="9418320" cy="960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065A82"/>
                </a:solidFill>
                <a:latin typeface="Calibri"/>
              </a:rPr>
              <a:t>Reativo puro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672"/>
                </a:solidFill>
                <a:latin typeface="Calibri"/>
              </a:rPr>
              <a:t>Desvia em tempo real, mas cai em mínimos locais e oscila em quinas.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00600"/>
            <a:ext cx="10881360" cy="123444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65192"/>
            <a:ext cx="9418320" cy="960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065A82"/>
                </a:solidFill>
                <a:latin typeface="Calibri"/>
              </a:rPr>
              <a:t>Solução híbrida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672"/>
                </a:solidFill>
                <a:latin typeface="Calibri"/>
              </a:rPr>
              <a:t>A* (global) planeja a rota; DWA (local) desvia — o melhor dos dois.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22A33"/>
                </a:solidFill>
                <a:latin typeface="Calibri"/>
              </a:rPr>
              <a:t>Evoluções desta entrega: A* melhorado (Guo et al., 2024) • grade de ocupação por visão • correção do sentido de marcha.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VISÃO GERAL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Arquitetura do sistema</a:t>
            </a:r>
          </a:p>
        </p:txBody>
      </p:sp>
      <p:pic>
        <p:nvPicPr>
          <p:cNvPr id="4" name="Picture 3" descr="fig_arquite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041" y="1828800"/>
            <a:ext cx="8909436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2A33"/>
                </a:solidFill>
                <a:latin typeface="Calibri"/>
              </a:rPr>
              <a:t>Sensor de visão → Grade de Ocupação → A* melhorado (pontos-chave) → metas do DWA → desvio reativo com sensores de proximidade → motores da base diferencial. Comunicação Python ↔ CoppeliaSim via ZeroMQ Remote API.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PLANEJAMENTO GLOBAL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A* Melhorado — três evoluções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538728" cy="338328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19" y="2331720"/>
            <a:ext cx="731520" cy="7315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1B2A4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3017520" cy="2011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65A82"/>
                </a:solidFill>
                <a:latin typeface="Calibri"/>
              </a:rPr>
              <a:t>Heurística ponderada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2"/>
                </a:solidFill>
                <a:latin typeface="Calibri"/>
              </a:rPr>
              <a:t>f(n) = g(n) + (1 + d/D)·h(n)
Busca rápida longe do alvo, ótima perto dele.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011680"/>
            <a:ext cx="3538728" cy="338328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81728" y="2331720"/>
            <a:ext cx="731520" cy="7315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1B2A4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8" y="3246120"/>
            <a:ext cx="3017520" cy="2011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65A82"/>
                </a:solidFill>
                <a:latin typeface="Calibri"/>
              </a:rPr>
              <a:t>Seleção de pontos-chave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2"/>
                </a:solidFill>
                <a:latin typeface="Calibri"/>
              </a:rPr>
              <a:t>Remove nós colineares e curvas redundantes por linha de visão.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2011680"/>
            <a:ext cx="3538728" cy="338328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03336" y="2331720"/>
            <a:ext cx="731520" cy="7315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1B2A4A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6" y="3246120"/>
            <a:ext cx="3017520" cy="2011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65A82"/>
                </a:solidFill>
                <a:latin typeface="Calibri"/>
              </a:rPr>
              <a:t>Suavização de Bézier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2"/>
                </a:solidFill>
                <a:latin typeface="Calibri"/>
              </a:rPr>
              <a:t>Curvas quadráticas substituem inflexões por arcos suaves.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5000"/>
            <a:ext cx="108813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A6672"/>
                </a:solidFill>
                <a:latin typeface="Calibri"/>
              </a:rPr>
              <a:t>Referência: Guo, H. et al. Path planning of greenhouse electric crawler tractor based on the improved A* and DWA algorithms. Computers and Electronics in Agriculture, 227, 2024.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MELHORIA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Heurística ponderada adaptativa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212080" cy="4206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065A82"/>
                </a:solidFill>
                <a:latin typeface="Consolas"/>
              </a:rPr>
              <a:t>f(n) = g(n) + (1 + d/D)·h(n)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 i="0">
                <a:solidFill>
                  <a:srgbClr val="222A33"/>
                </a:solidFill>
                <a:latin typeface="Calibri"/>
              </a:rPr>
              <a:t>•  d = distância do nó atual ao objetivo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 i="0">
                <a:solidFill>
                  <a:srgbClr val="222A33"/>
                </a:solidFill>
                <a:latin typeface="Calibri"/>
              </a:rPr>
              <a:t>•  D = distância do início ao objetivo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 i="0">
                <a:solidFill>
                  <a:srgbClr val="222A33"/>
                </a:solidFill>
                <a:latin typeface="Calibri"/>
              </a:rPr>
              <a:t>•  Longe do alvo (d/D→1): peso ≈ 2 → busca rápida, menos nós expandidos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 i="0">
                <a:solidFill>
                  <a:srgbClr val="222A33"/>
                </a:solidFill>
                <a:latin typeface="Calibri"/>
              </a:rPr>
              <a:t>•  Perto do alvo (d/D→0): peso ≈ 1 → recupera a otimalidade do A* clássico</a:t>
            </a:r>
          </a:p>
        </p:txBody>
      </p:sp>
      <p:pic>
        <p:nvPicPr>
          <p:cNvPr id="5" name="Picture 4" descr="fig_heur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328203"/>
            <a:ext cx="5486400" cy="32074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MELHORIAS 2 E 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Pontos-chave e suavização de Bézier</a:t>
            </a:r>
          </a:p>
        </p:txBody>
      </p:sp>
      <p:pic>
        <p:nvPicPr>
          <p:cNvPr id="4" name="Picture 3" descr="fig_asta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461" y="1783080"/>
            <a:ext cx="9280597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57800"/>
            <a:ext cx="10881360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65A82"/>
                </a:solidFill>
                <a:latin typeface="Consolas"/>
              </a:rPr>
              <a:t>B(t) = (1−t)²·P₀ + 2t(1−t)·P₁ + t²·P₂ ,  t ∈ [0, 1]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2A33"/>
                </a:solidFill>
                <a:latin typeface="Calibri"/>
              </a:rPr>
              <a:t>No experimento sintético, o caminho bruto de 129 nós foi reduzido a apenas 9 pontos-chave, e a trajetória final passou a ter curvatura contínua — favorecendo o movimento suave da 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PERCEPÇÃO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Mapa de Grade de Ocupação (sensor de visão)</a:t>
            </a:r>
          </a:p>
        </p:txBody>
      </p:sp>
      <p:pic>
        <p:nvPicPr>
          <p:cNvPr id="4" name="Picture 3" descr="fig_occup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539" y="1783080"/>
            <a:ext cx="8738441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74920"/>
            <a:ext cx="10881360" cy="1463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2A33"/>
                </a:solidFill>
                <a:latin typeface="Calibri"/>
              </a:rPr>
              <a:t>Sensor de visão ortográfico apontado para baixo captura o mapa de profundidade da cena. Células com algo “alto” (mais perto do sensor que o chão) são marcadas como OCUPADAS e viram pontos de obstáculo para o A*.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A6672"/>
                </a:solidFill>
                <a:latin typeface="Calibri"/>
              </a:rPr>
              <a:t>Base teórica: Moravec, H. &amp; Elfes, A. High resolution maps from wide angle sonar (1985). Alberto Elfes — pesquisador brasileiro (ITA/CMU), pioneiro das Occupancy Grids.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CONTROLE LOCAL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DWA e fusão com o A*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5577840" cy="4206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222A33"/>
                </a:solidFill>
                <a:latin typeface="Calibri"/>
              </a:rPr>
              <a:t>•  Amostra pares (v, ω) na janela dinâmica (limites cinemáticos + dinâmicos).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222A33"/>
                </a:solidFill>
                <a:latin typeface="Calibri"/>
              </a:rPr>
              <a:t>•  Simula trajetórias e escolhe a de menor custo composto.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222A33"/>
                </a:solidFill>
                <a:latin typeface="Calibri"/>
              </a:rPr>
              <a:t>•  Custo: alinhamento ao alvo, velocidade, obstáculos e distância.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222A33"/>
                </a:solidFill>
                <a:latin typeface="Calibri"/>
              </a:rPr>
              <a:t>•  Fusão: os pontos-chave do A* são as metas intermediárias do DWA.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222A33"/>
                </a:solidFill>
                <a:latin typeface="Calibri"/>
              </a:rPr>
              <a:t>•  O termo de distância = key(v,ω): segue o contorno da rota global.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2011680"/>
            <a:ext cx="5029200" cy="356616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2286000"/>
            <a:ext cx="4480560" cy="3108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02C39A"/>
                </a:solidFill>
                <a:latin typeface="Consolas"/>
              </a:rPr>
              <a:t>G(v, ω) =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</a:rPr>
              <a:t>α·Custo_alvo
+ β·Custo_veloc
+ γ·Custo_obst
+ δ·Custo_dist
− ε·Recompensa_progresso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CADCFC"/>
                </a:solidFill>
                <a:latin typeface="Calibri"/>
              </a:rPr>
              <a:t>Escape automático (giro no eixo) trata bloqueios totais.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CORREÇÃO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O robô andava “de costas”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538728" cy="356616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286000"/>
            <a:ext cx="320040" cy="32004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3063240" cy="2743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22A33"/>
                </a:solidFill>
                <a:latin typeface="Calibri"/>
              </a:rPr>
              <a:t>Sintoma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672"/>
                </a:solidFill>
                <a:latin typeface="Calibri"/>
              </a:rPr>
              <a:t>Os sensores apontavam para a frente, mas a base transladava no sentido oposto.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011680"/>
            <a:ext cx="3538728" cy="356616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36008" y="2286000"/>
            <a:ext cx="320040" cy="3200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697480"/>
            <a:ext cx="3063240" cy="2743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22A33"/>
                </a:solidFill>
                <a:latin typeface="Calibri"/>
              </a:rPr>
              <a:t>Diagnóstico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672"/>
                </a:solidFill>
                <a:latin typeface="Calibri"/>
              </a:rPr>
              <a:t>Descasamento entre o yaw usado no movimento e a frente física do modelo (para onde os sensores olham).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2011680"/>
            <a:ext cx="3538728" cy="3566160"/>
          </a:xfrm>
          <a:prstGeom prst="roundRect">
            <a:avLst/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57616" y="2286000"/>
            <a:ext cx="320040" cy="3200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6" y="2697480"/>
            <a:ext cx="3063240" cy="2743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22A33"/>
                </a:solidFill>
                <a:latin typeface="Calibri"/>
              </a:rPr>
              <a:t>Solução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672"/>
                </a:solidFill>
                <a:latin typeface="Calibri"/>
              </a:rPr>
              <a:t>Mede-se o heading_offset pelo eixo +Z do SENSOR_MEIO; movimento e planejamento passam a usar o rumo da frente. Override SINAL_FRENTE inverte 180° se preciso.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ENGENHARIA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Organização do projeto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881360" cy="786384"/>
          </a:xfrm>
          <a:prstGeom prst="roundRect">
            <a:avLst/>
          </a:prstGeom>
          <a:solidFill>
            <a:srgbClr val="EEF3F7"/>
          </a:solidFill>
          <a:ln w="12700">
            <a:solidFill>
              <a:srgbClr val="D0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93976"/>
            <a:ext cx="4023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65A82"/>
                </a:solidFill>
                <a:latin typeface="Consolas"/>
              </a:rPr>
              <a:t>main.py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093976"/>
            <a:ext cx="6309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A33"/>
                </a:solidFill>
                <a:latin typeface="Calibri"/>
              </a:rPr>
              <a:t>Loop principal: init, grade de ocupação, A*+DWA, atuação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62072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90088"/>
            <a:ext cx="4023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65A82"/>
                </a:solidFill>
                <a:latin typeface="Consolas"/>
              </a:rPr>
              <a:t>dynamic_window_approach.py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990088"/>
            <a:ext cx="6309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A33"/>
                </a:solidFill>
                <a:latin typeface="Calibri"/>
              </a:rPr>
              <a:t>A* melhorado (peso, pontos-chave, Bézier) + DWAController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58183"/>
            <a:ext cx="10881360" cy="786384"/>
          </a:xfrm>
          <a:prstGeom prst="roundRect">
            <a:avLst/>
          </a:prstGeom>
          <a:solidFill>
            <a:srgbClr val="EEF3F7"/>
          </a:solidFill>
          <a:ln w="12700">
            <a:solidFill>
              <a:srgbClr val="D0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199"/>
            <a:ext cx="4023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65A82"/>
                </a:solidFill>
                <a:latin typeface="Consolas"/>
              </a:rPr>
              <a:t>mapa_ocupacao.py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886199"/>
            <a:ext cx="6309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A33"/>
                </a:solidFill>
                <a:latin typeface="Calibri"/>
              </a:rPr>
              <a:t>Sensor de visão + Mapa de Grade de Ocupação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654296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782312"/>
            <a:ext cx="4023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65A82"/>
                </a:solidFill>
                <a:latin typeface="Consolas"/>
              </a:rPr>
              <a:t>utils/  •  cenas/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782312"/>
            <a:ext cx="6309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A33"/>
                </a:solidFill>
                <a:latin typeface="Calibri"/>
              </a:rPr>
              <a:t>Scripts de conexão/listagem  •  cena oficial (scena com obstaculos)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50408"/>
            <a:ext cx="10881360" cy="786384"/>
          </a:xfrm>
          <a:prstGeom prst="roundRect">
            <a:avLst/>
          </a:prstGeom>
          <a:solidFill>
            <a:srgbClr val="EEF3F7"/>
          </a:solidFill>
          <a:ln w="12700">
            <a:solidFill>
              <a:srgbClr val="D0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678424"/>
            <a:ext cx="4023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65A82"/>
                </a:solidFill>
                <a:latin typeface="Consolas"/>
              </a:rPr>
              <a:t>docs/  •  legado/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5678424"/>
            <a:ext cx="63093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22A33"/>
                </a:solidFill>
                <a:latin typeface="Calibri"/>
              </a:rPr>
              <a:t>Relatório, apresentação e artigo  •  arquivos antigos preservados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2C39A"/>
                </a:solidFill>
                <a:latin typeface="Calibri"/>
              </a:rPr>
              <a:t>RESULTADOS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222A33"/>
                </a:solidFill>
                <a:latin typeface="Cambria"/>
              </a:rPr>
              <a:t>O que já foi validado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538728" cy="192024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3172968" cy="1554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2C39A"/>
                </a:solidFill>
                <a:latin typeface="Cambria"/>
              </a:rPr>
              <a:t>129 → 9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nós reduzidos a
pontos-chave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965960"/>
            <a:ext cx="3538728" cy="192024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2148840"/>
            <a:ext cx="3172968" cy="1554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2C39A"/>
                </a:solidFill>
                <a:latin typeface="Cambria"/>
              </a:rPr>
              <a:t>256²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células na grade
de ocupação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3296" y="1965960"/>
            <a:ext cx="3538728" cy="192024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5" y="2148840"/>
            <a:ext cx="3172968" cy="1554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2C39A"/>
                </a:solidFill>
                <a:latin typeface="Cambria"/>
              </a:rPr>
              <a:t>A*+DWA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fusão por
pontos-chave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06240"/>
            <a:ext cx="10881360" cy="21945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065A82"/>
                </a:solidFill>
                <a:latin typeface="Calibri"/>
              </a:rPr>
              <a:t>A validar no CoppeliaSim: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22A33"/>
                </a:solidFill>
                <a:latin typeface="Calibri"/>
              </a:rPr>
              <a:t>•  Abrir cenas/scena com obstaculos.ttt e executar  python main.py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22A33"/>
                </a:solidFill>
                <a:latin typeface="Calibri"/>
              </a:rPr>
              <a:t>•  Confirmar que a base avança no sentido dos sensores (correção de marcha)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22A33"/>
                </a:solidFill>
                <a:latin typeface="Calibri"/>
              </a:rPr>
              <a:t>•  Conferir a fidelidade da grade de ocupação e ajustar limiar/ganhos se preciso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2C39A"/>
                </a:solidFill>
                <a:latin typeface="Calibri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Arquitetura híbrida: A* melhorado + grade de ocupação (visão) + DWA, com fusão por pontos-chave.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Defeito de sentido de marcha diagnosticado e corrigido de forma robusta.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Projeto modularizado e documentado (relatório final + apresentação).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1463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CADCFC"/>
                </a:solidFill>
                <a:latin typeface="Calibri"/>
              </a:rPr>
              <a:t>Referências:  Guo et al. (2024) · Moravec &amp; Elfes (1985) · Fox, Burgard &amp; Thrun (1997)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2C39A"/>
                </a:solidFill>
                <a:latin typeface="Calibri"/>
              </a:rPr>
              <a:t>Obrigado!  —  Heitor Freire Alves · Robótica · UNIVASF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