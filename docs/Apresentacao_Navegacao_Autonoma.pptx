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NAVEGAÇÃO AUTÔNOMA DE ROBÔS MÓVEIS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Sistema Híbrido com A* Melhorado, DWA 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Mapa de Grade de Ocupação no CoppeliaSim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ADCFC"/>
                </a:solidFill>
                <a:latin typeface="Calibri"/>
              </a:rPr>
              <a:t>Heitor Freire Alves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B2CC"/>
                </a:solidFill>
                <a:latin typeface="Calibri"/>
              </a:rPr>
              <a:t>Disciplina de Robótica — UNIVASF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MOTIVAÇÃO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O problema da navegação autônoma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8813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30552"/>
            <a:ext cx="941832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5A82"/>
                </a:solidFill>
                <a:latin typeface="Calibri"/>
              </a:rPr>
              <a:t>Global puro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672"/>
                </a:solidFill>
                <a:latin typeface="Calibri"/>
              </a:rPr>
              <a:t>Rotas ótimas, mas falha diante de obstáculos dinâmicos e imprevistos.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108813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47872"/>
            <a:ext cx="941832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5A82"/>
                </a:solidFill>
                <a:latin typeface="Calibri"/>
              </a:rPr>
              <a:t>Reativo puro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672"/>
                </a:solidFill>
                <a:latin typeface="Calibri"/>
              </a:rPr>
              <a:t>Desvia em tempo real, mas cai em mínimos locais e oscila em quinas.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00600"/>
            <a:ext cx="10881360" cy="12344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65192"/>
            <a:ext cx="941832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5A82"/>
                </a:solidFill>
                <a:latin typeface="Calibri"/>
              </a:rPr>
              <a:t>Solução híbrida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672"/>
                </a:solidFill>
                <a:latin typeface="Calibri"/>
              </a:rPr>
              <a:t>A* (global) planeja a rota; DWA (local) desvia — o melhor dos dois.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222A33"/>
                </a:solidFill>
                <a:latin typeface="Calibri"/>
              </a:rPr>
              <a:t>Evoluções desta entrega: A* melhorado (Guo et al., 2024) • grade de ocupação por visão • correção do sentido de marcha.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VISÃO GERAL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Arquitetura do sistema</a:t>
            </a:r>
          </a:p>
        </p:txBody>
      </p:sp>
      <p:pic>
        <p:nvPicPr>
          <p:cNvPr id="4" name="Picture 3" descr="fig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41" y="1828800"/>
            <a:ext cx="8909436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Sensor de visão → Grade de Ocupação → A* melhorado (pontos-chave) → metas do DWA → desvio reativo com sensores de proximidade → motores da base diferencial. Comunicação Python ↔ CoppeliaSim via ZeroMQ Remote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PLANEJAMENTO GLOBAL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A* Melhorado — três evoluções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538728" cy="33832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33172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301752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65A82"/>
                </a:solidFill>
                <a:latin typeface="Calibri"/>
              </a:rPr>
              <a:t>Heurística ponderada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Calibri"/>
              </a:rPr>
              <a:t>f(n) = g(n) + (1 + d/D)·h(n)
Busca rápida longe do alvo, ótima perto dele.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2011680"/>
            <a:ext cx="3538728" cy="33832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81728" y="233172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3246120"/>
            <a:ext cx="301752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65A82"/>
                </a:solidFill>
                <a:latin typeface="Calibri"/>
              </a:rPr>
              <a:t>Seleção de pontos-chave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Calibri"/>
              </a:rPr>
              <a:t>Remove nós colineares e curvas redundantes por linha de visão.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2011680"/>
            <a:ext cx="3538728" cy="33832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03336" y="233172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246120"/>
            <a:ext cx="301752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65A82"/>
                </a:solidFill>
                <a:latin typeface="Calibri"/>
              </a:rPr>
              <a:t>Suavização de Bézier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Calibri"/>
              </a:rPr>
              <a:t>Curvas quadráticas substituem inflexões por arcos suaves.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2"/>
                </a:solidFill>
                <a:latin typeface="Calibri"/>
              </a:rPr>
              <a:t>Referência: Guo, H. et al. Path planning of greenhouse electric crawler tractor based on the improved A* and DWA algorithms. Computers and Electronics in Agriculture, 227,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MELHORIA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Heurística ponderada adaptativa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212080" cy="4206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065A82"/>
                </a:solidFill>
                <a:latin typeface="Consolas"/>
              </a:rPr>
              <a:t>f(n) = g(n) + (1 + d/D)·h(n)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d = distância do nó atual ao objetivo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D = distância do início ao objetivo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Longe do alvo (d/D→1): peso ≈ 2 → busca rápida, menos nós expandidos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Perto do alvo (d/D→0): peso ≈ 1 → recupera a otimalidade do A* clássico</a:t>
            </a:r>
          </a:p>
        </p:txBody>
      </p:sp>
      <p:pic>
        <p:nvPicPr>
          <p:cNvPr id="5" name="Picture 4" descr="fig_heuris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328203"/>
            <a:ext cx="5486400" cy="32074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MELHORIAS 2 E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Pontos-chave e suavização de Bézier</a:t>
            </a:r>
          </a:p>
        </p:txBody>
      </p:sp>
      <p:pic>
        <p:nvPicPr>
          <p:cNvPr id="4" name="Picture 3" descr="fig_asta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461" y="1783080"/>
            <a:ext cx="9280597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57800"/>
            <a:ext cx="1088136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65A82"/>
                </a:solidFill>
                <a:latin typeface="Consolas"/>
              </a:rPr>
              <a:t>B(t) = (1−t)²·P₀ + 2t(1−t)·P₁ + t²·P₂ ,  t ∈ [0, 1]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No experimento sintético, o caminho bruto de 129 nós foi reduzido a apenas 9 pontos-chave, e a trajetória final passou a ter curvatura contínua — favorecendo o movimento suave da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PERCEPÇÃO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Mapa de Grade de Ocupação (sensor de visão)</a:t>
            </a:r>
          </a:p>
        </p:txBody>
      </p:sp>
      <p:pic>
        <p:nvPicPr>
          <p:cNvPr id="4" name="Picture 3" descr="fig_occup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539" y="1783080"/>
            <a:ext cx="8738441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74920"/>
            <a:ext cx="1088136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Sensor de visão ortográfico apontado para baixo captura o mapa de profundidade da cena. Células com algo “alto” (mais perto do sensor que o chão) são marcadas como OCUPADAS e viram pontos de obstáculo para o A*.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2"/>
                </a:solidFill>
                <a:latin typeface="Calibri"/>
              </a:rPr>
              <a:t>Base teórica: Moravec, H. &amp; Elfes, A. High resolution maps from wide angle sonar (1985). Alberto Elfes — pesquisador brasileiro (ITA/CMU), pioneiro das Occupancy Grids.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CONTROLE LOCAL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DWA e fusão com o A*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577840" cy="4206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Amostra pares (v, ω) na janela dinâmica (limites cinemáticos + dinâmicos).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Simula trajetórias e escolhe a de menor custo composto.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Custo: alinhamento ao alvo, velocidade, obstáculos e distância.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Fusão: os pontos-chave do A* são as metas intermediárias do DWA.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222A33"/>
                </a:solidFill>
                <a:latin typeface="Calibri"/>
              </a:rPr>
              <a:t>•  O termo de distância = key(v,ω): segue o contorno da rota global.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011680"/>
            <a:ext cx="5029200" cy="35661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2286000"/>
            <a:ext cx="4480560" cy="3108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02C39A"/>
                </a:solidFill>
                <a:latin typeface="Consolas"/>
              </a:rPr>
              <a:t>G(v, ω) =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α·Custo_alvo
+ β·Custo_veloc
+ γ·Custo_obst
+ δ·Custo_dist
− ε·Recompensa_progresso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Escape automático (giro no eixo) trata bloqueios totais.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CORREÇÃO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O robô andava “de costas”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538728" cy="356616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06324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Sintoma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6672"/>
                </a:solidFill>
                <a:latin typeface="Calibri"/>
              </a:rPr>
              <a:t>Os sensores apontavam para a frente, mas a base transladava no sentido oposto.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2011680"/>
            <a:ext cx="3538728" cy="356616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36008" y="228600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697480"/>
            <a:ext cx="306324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Diagnóstico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6672"/>
                </a:solidFill>
                <a:latin typeface="Calibri"/>
              </a:rPr>
              <a:t>Descasamento entre o yaw usado no movimento e a frente física do modelo (para onde os sensores olham).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2011680"/>
            <a:ext cx="3538728" cy="356616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57616" y="228600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2697480"/>
            <a:ext cx="306324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22A33"/>
                </a:solidFill>
                <a:latin typeface="Calibri"/>
              </a:rPr>
              <a:t>Solução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6672"/>
                </a:solidFill>
                <a:latin typeface="Calibri"/>
              </a:rPr>
              <a:t>Mede-se o heading_offset pelo eixo +Z do SENSOR_MEIO; movimento e planejamento passam a usar o rumo da frente. Override SINAL_FRENTE inverte 180° se preciso.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ROBUSTEZ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Passagens apertadas e goals junto a paredes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349240" cy="19202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800600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65A82"/>
                </a:solidFill>
                <a:latin typeface="Calibri"/>
              </a:rPr>
              <a:t>Penalidade de proximidade (A*)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2"/>
                </a:solidFill>
                <a:latin typeface="Calibri"/>
              </a:rPr>
              <a:t>Células perto de parede custam mais (estilo costmap): corredores largos vencem vãos apertados.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65960"/>
            <a:ext cx="5349240" cy="19202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4800600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65A82"/>
                </a:solidFill>
                <a:latin typeface="Calibri"/>
              </a:rPr>
              <a:t>Custo limitado (DWA)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2"/>
                </a:solidFill>
                <a:latin typeface="Calibri"/>
              </a:rPr>
              <a:t>1/d em vez de 1/(d−raio): o robô não congela mais na entrada de corredores estreitos.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69080"/>
            <a:ext cx="5349240" cy="19202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800600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65A82"/>
                </a:solidFill>
                <a:latin typeface="Calibri"/>
              </a:rPr>
              <a:t>Alvo com linha de visão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2"/>
                </a:solidFill>
                <a:latin typeface="Calibri"/>
              </a:rPr>
              <a:t>O lookahead nunca mira um waypoint atrás de uma quina.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69080"/>
            <a:ext cx="5349240" cy="19202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97680"/>
            <a:ext cx="4800600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65A82"/>
                </a:solidFill>
                <a:latin typeface="Calibri"/>
              </a:rPr>
              <a:t>Replanejar + recuperar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2"/>
                </a:solidFill>
                <a:latin typeface="Calibri"/>
              </a:rPr>
              <a:t>Sem progresso por 30 passos: replaneja da posição atual, recua e gira para escapar.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VISUALIZAÇÃO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Mapa de Ocupação + Rota a cada simulação</a:t>
            </a:r>
          </a:p>
        </p:txBody>
      </p:sp>
      <p:pic>
        <p:nvPicPr>
          <p:cNvPr id="4" name="Picture 3" descr="fig_mapa_r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562" y="1737360"/>
            <a:ext cx="4658074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2103120"/>
            <a:ext cx="4663440" cy="4206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Janela ao vivo aberta em toda simulação, atualizada durante a navegação.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Mostra: obstáculos da grade, rota A*, pontos-chave, robô, goal e trajetória real.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Rota redesenhada a cada replanejamento.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Figura salva automaticamente em mapa_rota.png ao final.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No exemplo: o A* evita o vão apertado e escolhe o corredor largo; a trajetória real (magenta) segue a rota (azul).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ENGENHARIA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Organização do projeto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881360" cy="786384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0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93976"/>
            <a:ext cx="4023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65A82"/>
                </a:solidFill>
                <a:latin typeface="Consolas"/>
              </a:rPr>
              <a:t>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93976"/>
            <a:ext cx="6309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Robo (CoppeliaSim) + Navegador (A*+DWA+recuperação) +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62072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4023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65A82"/>
                </a:solidFill>
                <a:latin typeface="Consolas"/>
              </a:rPr>
              <a:t>dynamic_window_approach.py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990088"/>
            <a:ext cx="6309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A* melhorado + penalidade de proximidade + DWAController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58183"/>
            <a:ext cx="10881360" cy="786384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0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199"/>
            <a:ext cx="4023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65A82"/>
                </a:solidFill>
                <a:latin typeface="Consolas"/>
              </a:rPr>
              <a:t>mapa_ocupacao.py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86199"/>
            <a:ext cx="6309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Sensor de visão + Grade de Ocupação (+ fallback bbox)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54296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82312"/>
            <a:ext cx="4023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65A82"/>
                </a:solidFill>
                <a:latin typeface="Consolas"/>
              </a:rPr>
              <a:t>visualizacao.py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782312"/>
            <a:ext cx="6309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Janela ao vivo: mapa + rota + trajetória real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50408"/>
            <a:ext cx="10881360" cy="786384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0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78424"/>
            <a:ext cx="4023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65A82"/>
                </a:solidFill>
                <a:latin typeface="Consolas"/>
              </a:rPr>
              <a:t>utils/testar_algoritmos.py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678424"/>
            <a:ext cx="63093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Suíte de 9 testes sintéticos em malha fechada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RESULTADOS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22A33"/>
                </a:solidFill>
                <a:latin typeface="Cambria"/>
              </a:rPr>
              <a:t>Validação em malha fechada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38728" cy="1920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3172968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9/9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testes sintéticos
aprovados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965960"/>
            <a:ext cx="3538728" cy="1920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2148840"/>
            <a:ext cx="3172968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0,35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menor corredor
transponível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538728" cy="1920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5" y="2148840"/>
            <a:ext cx="3172968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129 → 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nós reduzidos a
pontos-chave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881360" cy="228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65A82"/>
                </a:solidFill>
                <a:latin typeface="Calibri"/>
              </a:rPr>
              <a:t>Casos aprovados (utils/testar_algoritmos.py):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Corredores de 0,60 / 0,50 / 0,40 / 0,35 m — sem colisão, folga ≥ 0,20 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Obstáculo em L, goal a 15 cm da parede, início virado 180°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Prefere corredor largo a vão apertado; usa o vão quando é a única opção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Navegação confirmada na cena oficial do CoppeliaSim (direção correta)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Arquitetura híbrida: A* melhorado + grade de ocupação (visão) + DWA, com fusão por pontos-chave.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Robusto em passagens apertadas: penalidade de proximidade, custo limitado, alvo visível e recuperação.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Mapa de ocupação + rota exibidos ao vivo a cada simulação (mapa_rota.png).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Validação: 9/9 testes sintéticos em malha fechada + navegação confirmada no CoppeliaSim.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CADCFC"/>
                </a:solidFill>
                <a:latin typeface="Calibri"/>
              </a:rPr>
              <a:t>Referências:  Guo et al. (2024) · Moravec &amp; Elfes (1985) · Fox, Burgard &amp; Thrun (1997)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2C39A"/>
                </a:solidFill>
                <a:latin typeface="Calibri"/>
              </a:rPr>
              <a:t>Obrigado!  —  Heitor Freire Alves · Robótica · UNIVASF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